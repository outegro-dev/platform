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90d87d7e4047f3" /><Relationship Type="http://schemas.openxmlformats.org/officeDocument/2006/relationships/extended-properties" Target="/docProps/app.xml" Id="Rea6fffbc181a435f" /><Relationship Type="http://schemas.openxmlformats.org/officeDocument/2006/relationships/officeDocument" Target="/ppt/presentation.xml" Id="Rafe8a2d80c1c4d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8af614393c4294"/>
  </p:sldMasterIdLst>
  <p:notesMasterIdLst>
    <p:notesMasterId xmlns:r="http://schemas.openxmlformats.org/officeDocument/2006/relationships" r:id="R41f3204dd36a426b"/>
  </p:notesMasterIdLst>
  <p:sldIdLst>
    <p:sldId xmlns:r="http://schemas.openxmlformats.org/officeDocument/2006/relationships" id="256" r:id="R9f4094e4d6d24794"/>
    <p:sldId xmlns:r="http://schemas.openxmlformats.org/officeDocument/2006/relationships" id="257" r:id="R894ff78e495f408a"/>
    <p:sldId xmlns:r="http://schemas.openxmlformats.org/officeDocument/2006/relationships" id="258" r:id="Rf9364ba2779e4164"/>
    <p:sldId xmlns:r="http://schemas.openxmlformats.org/officeDocument/2006/relationships" id="259" r:id="Rf1c38e169ce34bc2"/>
    <p:sldId xmlns:r="http://schemas.openxmlformats.org/officeDocument/2006/relationships" id="260" r:id="Rc2e441a83ab7495e"/>
    <p:sldId xmlns:r="http://schemas.openxmlformats.org/officeDocument/2006/relationships" id="261" r:id="R08ec5908255f4909"/>
    <p:sldId xmlns:r="http://schemas.openxmlformats.org/officeDocument/2006/relationships" id="262" r:id="Rb8da203a8017442e"/>
    <p:sldId xmlns:r="http://schemas.openxmlformats.org/officeDocument/2006/relationships" id="263" r:id="Rb9d389a40f904113"/>
    <p:sldId xmlns:r="http://schemas.openxmlformats.org/officeDocument/2006/relationships" id="264" r:id="R1527cd5f5aa549a3"/>
    <p:sldId xmlns:r="http://schemas.openxmlformats.org/officeDocument/2006/relationships" id="265" r:id="Rdb511b8d2f704f0a"/>
    <p:sldId xmlns:r="http://schemas.openxmlformats.org/officeDocument/2006/relationships" id="266" r:id="Rf087c32310eb44dc"/>
    <p:sldId xmlns:r="http://schemas.openxmlformats.org/officeDocument/2006/relationships" id="267" r:id="R0fadfe6ba0e84127"/>
    <p:sldId xmlns:r="http://schemas.openxmlformats.org/officeDocument/2006/relationships" id="268" r:id="Rfa2e094c5c0d4fe3"/>
    <p:sldId xmlns:r="http://schemas.openxmlformats.org/officeDocument/2006/relationships" id="269" r:id="R6cd7c295a0b24ffb"/>
    <p:sldId xmlns:r="http://schemas.openxmlformats.org/officeDocument/2006/relationships" id="270" r:id="Rc9f2ed6b5f9b47d0"/>
    <p:sldId xmlns:r="http://schemas.openxmlformats.org/officeDocument/2006/relationships" id="271" r:id="Rfc19fe3d58cf4ff4"/>
    <p:sldId xmlns:r="http://schemas.openxmlformats.org/officeDocument/2006/relationships" id="272" r:id="Rffa32afbf27a497f"/>
    <p:sldId xmlns:r="http://schemas.openxmlformats.org/officeDocument/2006/relationships" id="273" r:id="R5d6b1a72815046df"/>
    <p:sldId xmlns:r="http://schemas.openxmlformats.org/officeDocument/2006/relationships" id="274" r:id="Rb76043ec7f404909"/>
    <p:sldId xmlns:r="http://schemas.openxmlformats.org/officeDocument/2006/relationships" id="275" r:id="R7b2bc11008664f0f"/>
    <p:sldId xmlns:r="http://schemas.openxmlformats.org/officeDocument/2006/relationships" id="276" r:id="Rd88f450d0ebb4753"/>
    <p:sldId xmlns:r="http://schemas.openxmlformats.org/officeDocument/2006/relationships" id="277" r:id="Ra60ee00e5c6249aa"/>
    <p:sldId xmlns:r="http://schemas.openxmlformats.org/officeDocument/2006/relationships" id="278" r:id="Rf2da2395c3424049"/>
    <p:sldId xmlns:r="http://schemas.openxmlformats.org/officeDocument/2006/relationships" id="279" r:id="R17b2b61d4b144248"/>
    <p:sldId xmlns:r="http://schemas.openxmlformats.org/officeDocument/2006/relationships" id="280" r:id="Rc333dcecdc1d4e00"/>
    <p:sldId xmlns:r="http://schemas.openxmlformats.org/officeDocument/2006/relationships" id="281" r:id="Rc76639d690d544c1"/>
    <p:sldId xmlns:r="http://schemas.openxmlformats.org/officeDocument/2006/relationships" id="282" r:id="R1808db9bd55e40a1"/>
    <p:sldId xmlns:r="http://schemas.openxmlformats.org/officeDocument/2006/relationships" id="283" r:id="R582df9a8b79e4f97"/>
    <p:sldId xmlns:r="http://schemas.openxmlformats.org/officeDocument/2006/relationships" id="284" r:id="R321dcb53eb7c48cc"/>
    <p:sldId xmlns:r="http://schemas.openxmlformats.org/officeDocument/2006/relationships" id="285" r:id="R816fbc0ab08d417a"/>
    <p:sldId xmlns:r="http://schemas.openxmlformats.org/officeDocument/2006/relationships" id="286" r:id="R8fa2464b48874498"/>
    <p:sldId xmlns:r="http://schemas.openxmlformats.org/officeDocument/2006/relationships" id="287" r:id="R76becf8aa45144dd"/>
    <p:sldId xmlns:r="http://schemas.openxmlformats.org/officeDocument/2006/relationships" id="288" r:id="R15d07d7afb6f419b"/>
    <p:sldId xmlns:r="http://schemas.openxmlformats.org/officeDocument/2006/relationships" id="289" r:id="Re4b41adf3c7d4fd8"/>
    <p:sldId xmlns:r="http://schemas.openxmlformats.org/officeDocument/2006/relationships" id="290" r:id="R53c8deb8c22443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3e345c3f4745b1" /><Relationship Type="http://schemas.openxmlformats.org/officeDocument/2006/relationships/slideMaster" Target="/ppt/slideMasters/slideMaster1.xml" Id="R4e8af614393c4294" /><Relationship Type="http://schemas.openxmlformats.org/officeDocument/2006/relationships/notesMaster" Target="/ppt/notesMasters/notesMaster1.xml" Id="R41f3204dd36a426b" /><Relationship Type="http://schemas.openxmlformats.org/officeDocument/2006/relationships/presProps" Target="/ppt/presProps.xml" Id="R5ac6346781a844fa" /><Relationship Type="http://schemas.openxmlformats.org/officeDocument/2006/relationships/tableStyles" Target="/ppt/tableStyles.xml" Id="R41dbf861e56d44f8" /><Relationship Type="http://schemas.openxmlformats.org/officeDocument/2006/relationships/slide" Target="/ppt/slides/slide1.xml" Id="R9f4094e4d6d24794" /><Relationship Type="http://schemas.openxmlformats.org/officeDocument/2006/relationships/slide" Target="/ppt/slides/slide2.xml" Id="R894ff78e495f408a" /><Relationship Type="http://schemas.openxmlformats.org/officeDocument/2006/relationships/slide" Target="/ppt/slides/slide3.xml" Id="Rf9364ba2779e4164" /><Relationship Type="http://schemas.openxmlformats.org/officeDocument/2006/relationships/slide" Target="/ppt/slides/slide4.xml" Id="Rf1c38e169ce34bc2" /><Relationship Type="http://schemas.openxmlformats.org/officeDocument/2006/relationships/slide" Target="/ppt/slides/slide5.xml" Id="Rc2e441a83ab7495e" /><Relationship Type="http://schemas.openxmlformats.org/officeDocument/2006/relationships/slide" Target="/ppt/slides/slide6.xml" Id="R08ec5908255f4909" /><Relationship Type="http://schemas.openxmlformats.org/officeDocument/2006/relationships/slide" Target="/ppt/slides/slide7.xml" Id="Rb8da203a8017442e" /><Relationship Type="http://schemas.openxmlformats.org/officeDocument/2006/relationships/slide" Target="/ppt/slides/slide8.xml" Id="Rb9d389a40f904113" /><Relationship Type="http://schemas.openxmlformats.org/officeDocument/2006/relationships/slide" Target="/ppt/slides/slide9.xml" Id="R1527cd5f5aa549a3" /><Relationship Type="http://schemas.openxmlformats.org/officeDocument/2006/relationships/slide" Target="/ppt/slides/slide10.xml" Id="Rdb511b8d2f704f0a" /><Relationship Type="http://schemas.openxmlformats.org/officeDocument/2006/relationships/slide" Target="/ppt/slides/slide11.xml" Id="Rf087c32310eb44dc" /><Relationship Type="http://schemas.openxmlformats.org/officeDocument/2006/relationships/slide" Target="/ppt/slides/slide12.xml" Id="R0fadfe6ba0e84127" /><Relationship Type="http://schemas.openxmlformats.org/officeDocument/2006/relationships/slide" Target="/ppt/slides/slide13.xml" Id="Rfa2e094c5c0d4fe3" /><Relationship Type="http://schemas.openxmlformats.org/officeDocument/2006/relationships/slide" Target="/ppt/slides/slide14.xml" Id="R6cd7c295a0b24ffb" /><Relationship Type="http://schemas.openxmlformats.org/officeDocument/2006/relationships/slide" Target="/ppt/slides/slide15.xml" Id="Rc9f2ed6b5f9b47d0" /><Relationship Type="http://schemas.openxmlformats.org/officeDocument/2006/relationships/slide" Target="/ppt/slides/slide16.xml" Id="Rfc19fe3d58cf4ff4" /><Relationship Type="http://schemas.openxmlformats.org/officeDocument/2006/relationships/slide" Target="/ppt/slides/slide17.xml" Id="Rffa32afbf27a497f" /><Relationship Type="http://schemas.openxmlformats.org/officeDocument/2006/relationships/slide" Target="/ppt/slides/slide18.xml" Id="R5d6b1a72815046df" /><Relationship Type="http://schemas.openxmlformats.org/officeDocument/2006/relationships/slide" Target="/ppt/slides/slide19.xml" Id="Rb76043ec7f404909" /><Relationship Type="http://schemas.openxmlformats.org/officeDocument/2006/relationships/slide" Target="/ppt/slides/slide20.xml" Id="R7b2bc11008664f0f" /><Relationship Type="http://schemas.openxmlformats.org/officeDocument/2006/relationships/slide" Target="/ppt/slides/slide21.xml" Id="Rd88f450d0ebb4753" /><Relationship Type="http://schemas.openxmlformats.org/officeDocument/2006/relationships/slide" Target="/ppt/slides/slide22.xml" Id="Ra60ee00e5c6249aa" /><Relationship Type="http://schemas.openxmlformats.org/officeDocument/2006/relationships/slide" Target="/ppt/slides/slide23.xml" Id="Rf2da2395c3424049" /><Relationship Type="http://schemas.openxmlformats.org/officeDocument/2006/relationships/slide" Target="/ppt/slides/slide24.xml" Id="R17b2b61d4b144248" /><Relationship Type="http://schemas.openxmlformats.org/officeDocument/2006/relationships/slide" Target="/ppt/slides/slide25.xml" Id="Rc333dcecdc1d4e00" /><Relationship Type="http://schemas.openxmlformats.org/officeDocument/2006/relationships/slide" Target="/ppt/slides/slide26.xml" Id="Rc76639d690d544c1" /><Relationship Type="http://schemas.openxmlformats.org/officeDocument/2006/relationships/slide" Target="/ppt/slides/slide27.xml" Id="R1808db9bd55e40a1" /><Relationship Type="http://schemas.openxmlformats.org/officeDocument/2006/relationships/slide" Target="/ppt/slides/slide28.xml" Id="R582df9a8b79e4f97" /><Relationship Type="http://schemas.openxmlformats.org/officeDocument/2006/relationships/slide" Target="/ppt/slides/slide29.xml" Id="R321dcb53eb7c48cc" /><Relationship Type="http://schemas.openxmlformats.org/officeDocument/2006/relationships/slide" Target="/ppt/slides/slide30.xml" Id="R816fbc0ab08d417a" /><Relationship Type="http://schemas.openxmlformats.org/officeDocument/2006/relationships/slide" Target="/ppt/slides/slide31.xml" Id="R8fa2464b48874498" /><Relationship Type="http://schemas.openxmlformats.org/officeDocument/2006/relationships/slide" Target="/ppt/slides/slide32.xml" Id="R76becf8aa45144dd" /><Relationship Type="http://schemas.openxmlformats.org/officeDocument/2006/relationships/slide" Target="/ppt/slides/slide33.xml" Id="R15d07d7afb6f419b" /><Relationship Type="http://schemas.openxmlformats.org/officeDocument/2006/relationships/slide" Target="/ppt/slides/slide34.xml" Id="Re4b41adf3c7d4fd8" /><Relationship Type="http://schemas.openxmlformats.org/officeDocument/2006/relationships/slide" Target="/ppt/slides/slide35.xml" Id="R53c8deb8c22443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256b4b202443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ca1359e6904ddb" /><Relationship Type="http://schemas.openxmlformats.org/officeDocument/2006/relationships/notesMaster" Target="/ppt/notesMasters/notesMaster1.xml" Id="R1539ab82d0fe45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1ed51272894477" /><Relationship Type="http://schemas.openxmlformats.org/officeDocument/2006/relationships/notesMaster" Target="/ppt/notesMasters/notesMaster1.xml" Id="Re56bd2ae6e4a49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56bc44dd734857" /><Relationship Type="http://schemas.openxmlformats.org/officeDocument/2006/relationships/notesMaster" Target="/ppt/notesMasters/notesMaster1.xml" Id="R7cd65013c0c647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adb74381da48a0" /><Relationship Type="http://schemas.openxmlformats.org/officeDocument/2006/relationships/notesMaster" Target="/ppt/notesMasters/notesMaster1.xml" Id="Rccc2b743b9e943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60bd6b768d469d" /><Relationship Type="http://schemas.openxmlformats.org/officeDocument/2006/relationships/notesMaster" Target="/ppt/notesMasters/notesMaster1.xml" Id="R8caf21febe1e4c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e52384a2f94a7e" /><Relationship Type="http://schemas.openxmlformats.org/officeDocument/2006/relationships/notesMaster" Target="/ppt/notesMasters/notesMaster1.xml" Id="R2ca99ef5dd1e4e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e570884ce34182" /><Relationship Type="http://schemas.openxmlformats.org/officeDocument/2006/relationships/notesMaster" Target="/ppt/notesMasters/notesMaster1.xml" Id="Ra2ac3aa1bdea48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ad00c9b49d4e74" /><Relationship Type="http://schemas.openxmlformats.org/officeDocument/2006/relationships/notesMaster" Target="/ppt/notesMasters/notesMaster1.xml" Id="R4158b26a55f44f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4bfcec6dde4599" /><Relationship Type="http://schemas.openxmlformats.org/officeDocument/2006/relationships/notesMaster" Target="/ppt/notesMasters/notesMaster1.xml" Id="R04c86ce5a1bc4c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b7166a4df74bb9" /><Relationship Type="http://schemas.openxmlformats.org/officeDocument/2006/relationships/notesMaster" Target="/ppt/notesMasters/notesMaster1.xml" Id="Ra7fb417b4c5c42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618a13a83594e53" /><Relationship Type="http://schemas.openxmlformats.org/officeDocument/2006/relationships/notesMaster" Target="/ppt/notesMasters/notesMaster1.xml" Id="R3f7b0277875c43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95f4a834a8451a" /><Relationship Type="http://schemas.openxmlformats.org/officeDocument/2006/relationships/notesMaster" Target="/ppt/notesMasters/notesMaster1.xml" Id="R6835c96fb1dd48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a5bc0147bd44a63" /><Relationship Type="http://schemas.openxmlformats.org/officeDocument/2006/relationships/notesMaster" Target="/ppt/notesMasters/notesMaster1.xml" Id="R397fa3c3e27c477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681592a31fd418f" /><Relationship Type="http://schemas.openxmlformats.org/officeDocument/2006/relationships/notesMaster" Target="/ppt/notesMasters/notesMaster1.xml" Id="R7a9d3f4bc2b149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9ce5016bae7425a" /><Relationship Type="http://schemas.openxmlformats.org/officeDocument/2006/relationships/notesMaster" Target="/ppt/notesMasters/notesMaster1.xml" Id="R9285befe8bd34d4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0e3efed4e6c4a7c" /><Relationship Type="http://schemas.openxmlformats.org/officeDocument/2006/relationships/notesMaster" Target="/ppt/notesMasters/notesMaster1.xml" Id="Ra11483770e8141f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b83b6bc2cdf44cd" /><Relationship Type="http://schemas.openxmlformats.org/officeDocument/2006/relationships/notesMaster" Target="/ppt/notesMasters/notesMaster1.xml" Id="Rf47a018a38d4498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5e616e81c9445b9" /><Relationship Type="http://schemas.openxmlformats.org/officeDocument/2006/relationships/notesMaster" Target="/ppt/notesMasters/notesMaster1.xml" Id="R684119b3545246c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0b92db29c81421a" /><Relationship Type="http://schemas.openxmlformats.org/officeDocument/2006/relationships/notesMaster" Target="/ppt/notesMasters/notesMaster1.xml" Id="R9e7ff904e64a46d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2d7c2d58e0a4855" /><Relationship Type="http://schemas.openxmlformats.org/officeDocument/2006/relationships/notesMaster" Target="/ppt/notesMasters/notesMaster1.xml" Id="Rbb0e0a3c478341f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134f77d00db4818" /><Relationship Type="http://schemas.openxmlformats.org/officeDocument/2006/relationships/notesMaster" Target="/ppt/notesMasters/notesMaster1.xml" Id="Re76cffa2965c48c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8eb530f6b5a4c87" /><Relationship Type="http://schemas.openxmlformats.org/officeDocument/2006/relationships/notesMaster" Target="/ppt/notesMasters/notesMaster1.xml" Id="R730edc0839e8449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d35d60185b240d7" /><Relationship Type="http://schemas.openxmlformats.org/officeDocument/2006/relationships/notesMaster" Target="/ppt/notesMasters/notesMaster1.xml" Id="Rf7573428997e44b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659dfb45ff84794" /><Relationship Type="http://schemas.openxmlformats.org/officeDocument/2006/relationships/notesMaster" Target="/ppt/notesMasters/notesMaster1.xml" Id="Rf873e1c6d53e46d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2804572c7544de7" /><Relationship Type="http://schemas.openxmlformats.org/officeDocument/2006/relationships/notesMaster" Target="/ppt/notesMasters/notesMaster1.xml" Id="Rb6e1e78ddf1942c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0320a20c0694660" /><Relationship Type="http://schemas.openxmlformats.org/officeDocument/2006/relationships/notesMaster" Target="/ppt/notesMasters/notesMaster1.xml" Id="Rb607834ea4ee433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7e068be97ff4db5" /><Relationship Type="http://schemas.openxmlformats.org/officeDocument/2006/relationships/notesMaster" Target="/ppt/notesMasters/notesMaster1.xml" Id="Rb085eaafbe3b4f5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d1d0bca371b4696" /><Relationship Type="http://schemas.openxmlformats.org/officeDocument/2006/relationships/notesMaster" Target="/ppt/notesMasters/notesMaster1.xml" Id="R692a74791d0046e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ac8a22eeac14802" /><Relationship Type="http://schemas.openxmlformats.org/officeDocument/2006/relationships/notesMaster" Target="/ppt/notesMasters/notesMaster1.xml" Id="R27635b0adee14d6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62007e2c43e4d18" /><Relationship Type="http://schemas.openxmlformats.org/officeDocument/2006/relationships/notesMaster" Target="/ppt/notesMasters/notesMaster1.xml" Id="R6f82c54e2a284d5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a60549b188a4fbe" /><Relationship Type="http://schemas.openxmlformats.org/officeDocument/2006/relationships/notesMaster" Target="/ppt/notesMasters/notesMaster1.xml" Id="Re84b896eca2a47e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6172a06b8d049bc" /><Relationship Type="http://schemas.openxmlformats.org/officeDocument/2006/relationships/notesMaster" Target="/ppt/notesMasters/notesMaster1.xml" Id="R75da4407f0234c1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40aaa3ef8be4584" /><Relationship Type="http://schemas.openxmlformats.org/officeDocument/2006/relationships/notesMaster" Target="/ppt/notesMasters/notesMaster1.xml" Id="R1fad39cf2652496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d54bd14bb2e45d9" /><Relationship Type="http://schemas.openxmlformats.org/officeDocument/2006/relationships/notesMaster" Target="/ppt/notesMasters/notesMaster1.xml" Id="R6c14365d01e14a8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3aab2574af1422d" /><Relationship Type="http://schemas.openxmlformats.org/officeDocument/2006/relationships/notesMaster" Target="/ppt/notesMasters/notesMaster1.xml" Id="Rc24e32f6736f41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Решения владельца и исследование 27.09.2026. Подробная спецификация: portfolio-plan.md, главы 0–15. Публичное имя Nick Lukashik; домен outegro.dev.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Решения владельца от 27.09.2026. Старое упоминание autegra.dev и рекомендация «Механика продукта» отменены.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Главы 0, 11, 12. Это уточнённый пользователем порядок, он заменяет раннюю рекомендацию публиковать статический сайт отдельно.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Нет публичного кейса outegro.com, фиктивных отзывов или готового демо. Биография только по данным владельца.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Выбранное владельцем направление. Это спецификация будущего макета, не уже созданный дизайн. Liquid-logo — референс материала; liquid-glass-js не принят обязательной зависимостью.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https://lisa.locomotive.ca/en</a:t>
            </a:r>
          </a:p>
          <a:p xmlns:a="http://schemas.openxmlformats.org/drawingml/2006/main">
            <a:r>
              <a:t>Снимок Playwright/Chromium 27.09.2026. Изображение показывает сайт-референс, не наш проект. Наблюдения и выводы: reference-review.md.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https://bleibtgleich.dev/</a:t>
            </a:r>
          </a:p>
          <a:p xmlns:a="http://schemas.openxmlformats.org/drawingml/2006/main">
            <a:r>
              <a:t>Снимок Playwright/Chromium 27.09.2026. Изображение показывает сайт-референс, не наш проект. Наблюдения и выводы: reference-review.md.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2. Three.js не импортируется через общий UI entrypoint. Сервисные формы не получают WebGL автоматически.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Главы 1, 2, 7. Библиотека компонентов проверяется в gallery на keyboard, длинных RU строках и мобильных размерах.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1.5. Не обещание 60+ FPS на любом устройстве. Модель устройства ещё требуется. https://r3f.docs.pmnd.rs/advanced/scaling-performance ; https://r3f.docs.pmnd.rs/advanced/pitfalls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Локальные sources: packages/ui/src/lib/locale.ts; auth-backend/prisma/schema.prisma; landing-web/src/i18n/request.ts. https://next-intl.dev/docs/routing/configuration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Главы 3–11. PostgreSQL одна физически, логические DB/roles разделены; Hermes own state на PVC. Админка не редактирует чужие таблицы.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4. Существующие login flows есть в основе, но целевая ревизия ещё не выполнена. Telegram linking не объявлен самостоятельным login.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старом Entitlement есть service/role/source/expiry, но нет полноценного RBAC. Подписка никогда не даёт административную роль.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4. Не заявлять полную OIDC-совместимость до выбора библиотеки и проверки. Текущая refresh race — вывод по коду, не воспроизведённый production-инцидент.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5. В основе найдено окно дубля alreadySent→send→record. Exactly-once внешней доставки не обещается.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Payments в исходном проекте — scaffold без доменных моделей. Новая функциональность — план реализации, не текущая готовность.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6.7. Точная периодизация подтверждается provider contract. Устаревшие/поздние события не применяются слепо.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https://developers.lava.top/en ; https://gate.lava.top/docs/documentation.yaml (info 1.22.0, 27.09.2026). Примеры refund не содержат однозначной ссылки на invoice. Sandbox и merchant capabilities ещё не подтверждены.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6. Вопрос о внутреннем кошельке остаётся открытым. Разработан вариант с double-entry ledger/top-up/reserve/capture, но не включён молча.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7. P0 — минимальный рабочий набор; advanced bulk actions/custom roles позже. Нет прямого SQL, secrets editor или импersonation.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7. Последний owner защищён. Solo owner не требует фиктивного второго согласующего; four-eyes только при наличии второго человека.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8. Prisma заменяется в новой реализации. После первого production применяются expand/contract и совместимые schema changes.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10 + 11. 1874+1000+1706+1400+768=6748 MiB, около 6.59 GiB. Из 8192 MiB остаётся 1444, реальный MemTotal уточняется. Limits/requests выводятся из нагрузки.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9. Постоянный trace backend требует отдельного бюджета; instrumentation/correlation входят в P0. Operational alert не зависит от Notifications.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Цели ещё не измерены. https://docs.k3s.io/datastore/backup-restore . Для SQLite K3s не применять etcd snapshot процедуру.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https://hermes-agent.nousresearch.com/docs/user-guide/messaging/telegram ; /docs/user-guide/sessions. Topic sessions не означают полной изоляции общей памяти; scope контролируется tools/backend.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Требование владельца. Цену покупки по умолчанию не публикуем; неизвестные характеристики не выдумываем. Внешняя группа должна разрешать бот-публикации; иначе готовим текст для ручного размещения.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https://hermes-agent.nousresearch.com/docs/integrations/providers ; https://learn.chatgpt.com/docs/pricing ; https://learn.chatgpt.com/docs/app-server . No-spend — критерий для проверки конкретного аккаунта, не уже подтверждённая настройка.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Проектная K3s-архитектура. https://hermes-agent.nousresearch.com/docs/user-guide/docker/ . Прямой перенос docker-compose не заявляется; startup/securityContext требуют smoke.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12. Реальные продажи включаются отдельно после merchant/product/provider validation. Battleship не входит в этот release gate.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14: 12+17+16+17=62; 20+28+27+28=103. Hermes 8–13; infra5–8; integration4–7. Внешние ожидания не включены. Wallet ещё8–15 дней до резерва при выборе.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Прямое указание владельца: не детализировать Battleship сейчас. «Анонимно» удалено как ошибка диктовки.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Plus и Telegram topics уже подтверждены, повторный вопрос о назначении Hermes не требуется. Секреты не нужно присылать в общий чат.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Полная спецификация: portfolio-plan.md, главы 0–15. Это целевой результат, не заявление о выполненном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14be55145849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8476d1d7b4493c" /><Relationship Type="http://schemas.openxmlformats.org/officeDocument/2006/relationships/slideLayout" Target="/ppt/slideLayouts/slideLayout1.xml" Id="R5cfe13aab1964d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fe13aab1964d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41a19cfc7446c" /><Relationship Type="http://schemas.openxmlformats.org/officeDocument/2006/relationships/notesSlide" Target="/ppt/notesSlides/notesSlide1.xml" Id="Rbf5773c3ddf649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a488158ed4e6a" /><Relationship Type="http://schemas.openxmlformats.org/officeDocument/2006/relationships/notesSlide" Target="/ppt/notesSlides/notesSlide2.xml" Id="R984728a789ed4c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250f1535c45e0" /><Relationship Type="http://schemas.openxmlformats.org/officeDocument/2006/relationships/notesSlide" Target="/ppt/notesSlides/notesSlide3.xml" Id="Rb73bb0bcb42e4c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390424ca843c0" /><Relationship Type="http://schemas.openxmlformats.org/officeDocument/2006/relationships/notesSlide" Target="/ppt/notesSlides/notesSlide4.xml" Id="R03c771608ed44e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bc446a96b497f" /><Relationship Type="http://schemas.openxmlformats.org/officeDocument/2006/relationships/notesSlide" Target="/ppt/notesSlides/notesSlide5.xml" Id="Rde36f061465346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2e35cd9e443d6" /><Relationship Type="http://schemas.openxmlformats.org/officeDocument/2006/relationships/image" Target="/ppt/media/image.png" Id="R9465dbaf15cf4fc5" /><Relationship Type="http://schemas.openxmlformats.org/officeDocument/2006/relationships/notesSlide" Target="/ppt/notesSlides/notesSlide6.xml" Id="R69be22f806ac47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aaa1f836f4544" /><Relationship Type="http://schemas.openxmlformats.org/officeDocument/2006/relationships/image" Target="/ppt/media/image2.png" Id="R79546ebee5e241ba" /><Relationship Type="http://schemas.openxmlformats.org/officeDocument/2006/relationships/notesSlide" Target="/ppt/notesSlides/notesSlide7.xml" Id="R01450052eb7346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4306e93b34027" /><Relationship Type="http://schemas.openxmlformats.org/officeDocument/2006/relationships/notesSlide" Target="/ppt/notesSlides/notesSlide8.xml" Id="R5e77ebe66c8e4e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4815d1a8f4931" /><Relationship Type="http://schemas.openxmlformats.org/officeDocument/2006/relationships/notesSlide" Target="/ppt/notesSlides/notesSlide9.xml" Id="R1b4cca34cff645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3c958ef5c4a58" /><Relationship Type="http://schemas.openxmlformats.org/officeDocument/2006/relationships/notesSlide" Target="/ppt/notesSlides/notesSlide10.xml" Id="R9d72526581f041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475639bdc4d33" /><Relationship Type="http://schemas.openxmlformats.org/officeDocument/2006/relationships/notesSlide" Target="/ppt/notesSlides/notesSlide11.xml" Id="R8cd0321545a640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aeaad1e6b478d" /><Relationship Type="http://schemas.openxmlformats.org/officeDocument/2006/relationships/notesSlide" Target="/ppt/notesSlides/notesSlide12.xml" Id="R02066a36319a489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a5813b7db4ebf" /><Relationship Type="http://schemas.openxmlformats.org/officeDocument/2006/relationships/notesSlide" Target="/ppt/notesSlides/notesSlide13.xml" Id="R73df8e84b3a04de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1a6adb43f4925" /><Relationship Type="http://schemas.openxmlformats.org/officeDocument/2006/relationships/notesSlide" Target="/ppt/notesSlides/notesSlide14.xml" Id="Rcaea62718a2c4a4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9f54e9190495f" /><Relationship Type="http://schemas.openxmlformats.org/officeDocument/2006/relationships/notesSlide" Target="/ppt/notesSlides/notesSlide15.xml" Id="R4fccad49f0e1406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4ca9a294c4a5d" /><Relationship Type="http://schemas.openxmlformats.org/officeDocument/2006/relationships/notesSlide" Target="/ppt/notesSlides/notesSlide16.xml" Id="Rbcbd0d39bfe2495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f7a4ca6b84f88" /><Relationship Type="http://schemas.openxmlformats.org/officeDocument/2006/relationships/notesSlide" Target="/ppt/notesSlides/notesSlide17.xml" Id="R34c920dcfd1044c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61897bb634dd4" /><Relationship Type="http://schemas.openxmlformats.org/officeDocument/2006/relationships/notesSlide" Target="/ppt/notesSlides/notesSlide18.xml" Id="R91e004834f85445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a16b7493642b1" /><Relationship Type="http://schemas.openxmlformats.org/officeDocument/2006/relationships/notesSlide" Target="/ppt/notesSlides/notesSlide19.xml" Id="Rcaf017fb064b4c1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a608866a84d21" /><Relationship Type="http://schemas.openxmlformats.org/officeDocument/2006/relationships/notesSlide" Target="/ppt/notesSlides/notesSlide20.xml" Id="Reaf93d726a4a4a6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8f606990446a3" /><Relationship Type="http://schemas.openxmlformats.org/officeDocument/2006/relationships/notesSlide" Target="/ppt/notesSlides/notesSlide21.xml" Id="Re835724ad3dc426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00ab9f0784bde" /><Relationship Type="http://schemas.openxmlformats.org/officeDocument/2006/relationships/notesSlide" Target="/ppt/notesSlides/notesSlide22.xml" Id="Rf12d3dbe90304cf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da5ae00474c55" /><Relationship Type="http://schemas.openxmlformats.org/officeDocument/2006/relationships/notesSlide" Target="/ppt/notesSlides/notesSlide23.xml" Id="R971ca8a8f8e248d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3eec7b7564ecf" /><Relationship Type="http://schemas.openxmlformats.org/officeDocument/2006/relationships/notesSlide" Target="/ppt/notesSlides/notesSlide24.xml" Id="Rf807ccd67bf04f2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8fe99e44041d2" /><Relationship Type="http://schemas.openxmlformats.org/officeDocument/2006/relationships/notesSlide" Target="/ppt/notesSlides/notesSlide25.xml" Id="R8e7a4d5c7b7c41d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d9ee71bf143f3" /><Relationship Type="http://schemas.openxmlformats.org/officeDocument/2006/relationships/notesSlide" Target="/ppt/notesSlides/notesSlide26.xml" Id="R1c751bbddf54457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f159b390c49de" /><Relationship Type="http://schemas.openxmlformats.org/officeDocument/2006/relationships/notesSlide" Target="/ppt/notesSlides/notesSlide27.xml" Id="Rdb1d0638e5194ba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274b1822b4bb5" /><Relationship Type="http://schemas.openxmlformats.org/officeDocument/2006/relationships/notesSlide" Target="/ppt/notesSlides/notesSlide28.xml" Id="R9a77c7b8a12a48d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24d0fa4f1401a" /><Relationship Type="http://schemas.openxmlformats.org/officeDocument/2006/relationships/notesSlide" Target="/ppt/notesSlides/notesSlide29.xml" Id="R6e694b21f37b4b4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108c11aa14bfd" /><Relationship Type="http://schemas.openxmlformats.org/officeDocument/2006/relationships/notesSlide" Target="/ppt/notesSlides/notesSlide30.xml" Id="Rbb76b4181aeb484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2db083f5e435d" /><Relationship Type="http://schemas.openxmlformats.org/officeDocument/2006/relationships/notesSlide" Target="/ppt/notesSlides/notesSlide31.xml" Id="R552f1df9aae04c2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6f44e7ea74e6e" /><Relationship Type="http://schemas.openxmlformats.org/officeDocument/2006/relationships/notesSlide" Target="/ppt/notesSlides/notesSlide32.xml" Id="Rfe5efc2cc75c490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f86e4af0b4758" /><Relationship Type="http://schemas.openxmlformats.org/officeDocument/2006/relationships/notesSlide" Target="/ppt/notesSlides/notesSlide33.xml" Id="R8e96e6a4ee0d4c1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092057f9d43c0" /><Relationship Type="http://schemas.openxmlformats.org/officeDocument/2006/relationships/notesSlide" Target="/ppt/notesSlides/notesSlide34.xml" Id="R25a61eda71344f7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00c7f7e154903" /><Relationship Type="http://schemas.openxmlformats.org/officeDocument/2006/relationships/notesSlide" Target="/ppt/notesSlides/notesSlide35.xml" Id="Rf57247c0e0e943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1C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3ADD6-9D96-4C1E-BDCD-409DB07F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763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F6F7F8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6F7F8"/>
                </a:solidFill>
                <a:latin typeface="Arial"/>
                <a:ea typeface="Arial"/>
                <a:cs typeface="Arial"/>
              </a:rPr>
              <a:t>Nick Lukashik</a:t>
            </a:r>
          </a:p>
          <a:p xmlns:a="http://schemas.openxmlformats.org/drawingml/2006/main">
            <a:pPr>
              <a:defRPr sz="6000" b="1">
                <a:solidFill>
                  <a:srgbClr val="F6F7F8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6F7F8"/>
                </a:solidFill>
                <a:latin typeface="Arial"/>
                <a:ea typeface="Arial"/>
                <a:cs typeface="Arial"/>
              </a:rPr>
              <a:t>Личное портфолио</a:t>
            </a:r>
          </a:p>
          <a:p xmlns:a="http://schemas.openxmlformats.org/drawingml/2006/main">
            <a:pPr>
              <a:defRPr sz="6000" b="1">
                <a:solidFill>
                  <a:srgbClr val="F6F7F8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6F7F8"/>
                </a:solidFill>
                <a:latin typeface="Arial"/>
                <a:ea typeface="Arial"/>
                <a:cs typeface="Arial"/>
              </a:rPr>
              <a:t>и платформа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B2F7A-5F6F-4D61-9767-73C15384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C8D0D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C8D0D9"/>
                </a:solidFill>
                <a:latin typeface="Arial"/>
                <a:ea typeface="Arial"/>
                <a:cs typeface="Arial"/>
              </a:rPr>
              <a:t>outegro.dev · Серебро и жидкая подпись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4FD37-D7B8-402F-963C-0C61909C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245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FB6C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FB6C1"/>
                </a:solidFill>
                <a:latin typeface="Arial"/>
                <a:ea typeface="Arial"/>
                <a:cs typeface="Arial"/>
              </a:rPr>
              <a:t>Продуктовая спецификация и этапы · версия 0.2 · 27.09.2026</a:t>
            </a:r>
          </a:p>
        </p:txBody>
      </p:sp>
    </p:spTree>
    <p:extLst>
      <p:ext uri="{BB962C8B-B14F-4D97-AF65-F5344CB8AC3E}">
        <p14:creationId xmlns:p14="http://schemas.microsoft.com/office/powerpoint/2010/main" val="5767215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BB1D8-9B00-498A-9EE7-62554436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A1F"/>
                </a:solidFill>
                <a:latin typeface="Arial"/>
                <a:ea typeface="Arial"/>
                <a:cs typeface="Arial"/>
              </a:rPr>
              <a:t>Принятые решения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0E4C4-1826-4CD5-905E-A6EC3B1A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2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F4150-2BC6-46EC-BE4C-A9A02CCE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05D6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05D6B"/>
                </a:solidFill>
                <a:latin typeface="Arial"/>
                <a:ea typeface="Arial"/>
                <a:cs typeface="Arial"/>
              </a:rPr>
              <a:t>Имя, домен и визуальное направление определены.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B7A0D-F705-41E8-B6EF-ACF22063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Nick Lukashik; outegro.dev сейчас, именной домен возможен позже.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720D2-4D75-4D85-89F6-F2C77CF0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Жидкая подпись, серебро, liquid glass и React Three Fiber.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C8FDA-D429-456E-9DD9-41EAB73A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EN по умолчанию + RU. Новые базы. Projects пока заглушка.</a:t>
            </a:r>
          </a:p>
        </p:txBody>
      </p:sp>
    </p:spTree>
    <p:extLst>
      <p:ext uri="{BB962C8B-B14F-4D97-AF65-F5344CB8AC3E}">
        <p14:creationId xmlns:p14="http://schemas.microsoft.com/office/powerpoint/2010/main" val="18600019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81C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C155D-820B-4C03-8345-C4C5C0EF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6F7F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7F8"/>
                </a:solidFill>
                <a:latin typeface="Arial"/>
                <a:ea typeface="Arial"/>
                <a:cs typeface="Arial"/>
              </a:rPr>
              <a:t>Порядок выпуска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A1778-021A-400E-A796-B5602764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7ADB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ADB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0E38C-D35D-4C68-9B05-26A218BE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8D0D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8D0D9"/>
                </a:solidFill>
                <a:latin typeface="Arial"/>
                <a:ea typeface="Arial"/>
                <a:cs typeface="Arial"/>
              </a:rPr>
              <a:t>Лендинг готовится первым; публикуется вместе с платформой.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1D207-5EFF-473C-A4A6-18E5DA19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7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7F8"/>
                </a:solidFill>
                <a:latin typeface="Arial"/>
                <a:ea typeface="Arial"/>
                <a:cs typeface="Arial"/>
              </a:rPr>
              <a:t>Лендинг и общая дизайн-система → обновлённые сервисы и инфраструктура.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A9918-F438-48C6-833F-B0804C95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7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7F8"/>
                </a:solidFill>
                <a:latin typeface="Arial"/>
                <a:ea typeface="Arial"/>
                <a:cs typeface="Arial"/>
              </a:rPr>
              <a:t>Hermes с Telegram topics → объединение фронтов и backend → K3s production.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1BB57-0FF7-49DE-8A50-7728BF6B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7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7F8"/>
                </a:solidFill>
                <a:latin typeface="Arial"/>
                <a:ea typeface="Arial"/>
                <a:cs typeface="Arial"/>
              </a:rPr>
              <a:t>После production — отдельное ТЗ морского боя.</a:t>
            </a:r>
          </a:p>
        </p:txBody>
      </p:sp>
    </p:spTree>
    <p:extLst>
      <p:ext uri="{BB962C8B-B14F-4D97-AF65-F5344CB8AC3E}">
        <p14:creationId xmlns:p14="http://schemas.microsoft.com/office/powerpoint/2010/main" val="13734822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07EFA-7705-4D3F-9555-2DF93946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A1F"/>
                </a:solidFill>
                <a:latin typeface="Arial"/>
                <a:ea typeface="Arial"/>
                <a:cs typeface="Arial"/>
              </a:rPr>
              <a:t>Глава 1 · Содержание лендинга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5C889-611B-41F9-89F6-F74FBF20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2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200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5048250"/>
                <a:gridCol w="3829050"/>
              </a:tblGrid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6F7F8"/>
                          </a:solidFill>
                          <a:latin typeface="Arial"/>
                          <a:ea typeface="Arial"/>
                          <a:cs typeface="Arial"/>
                        </a:rPr>
                        <a:t>Блок</a:t>
                      </a:r>
                    </a:p>
                  </a:txBody>
                  <a:tcPr marL="91440" marR="91440" marT="45720" marB="45720">
                    <a:solidFill>
                      <a:srgbClr val="171A1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6F7F8"/>
                          </a:solidFill>
                          <a:latin typeface="Arial"/>
                          <a:ea typeface="Arial"/>
                          <a:cs typeface="Arial"/>
                        </a:rPr>
                        <a:t>Содержание</a:t>
                      </a:r>
                    </a:p>
                  </a:txBody>
                  <a:tcPr marL="91440" marR="91440" marT="45720" marB="45720">
                    <a:solidFill>
                      <a:srgbClr val="171A1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6F7F8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>
                    <a:solidFill>
                      <a:srgbClr val="171A1F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Hero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Имя, роль, серебряная сцена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Понять специализацию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Expertise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Frontend / backend / infrastructure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Увидеть компетенции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Approach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Решения и подход к работе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Понять способ работы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Projects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Честная заглушка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Место будущим кейсам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Contact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Подтверждённые ссылки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Связаться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38302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81C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9A392-7A59-4AAA-9A18-8631D8E2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6F7F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7F8"/>
                </a:solidFill>
                <a:latin typeface="Arial"/>
                <a:ea typeface="Arial"/>
                <a:cs typeface="Arial"/>
              </a:rPr>
              <a:t>Глава 1 · Жидкая подпись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CB9F6-29DF-4C0B-ABEB-4CA0D2E8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7ADB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ADB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C2A30-2707-42B9-98BD-53BB13C3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8D0D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8D0D9"/>
                </a:solidFill>
                <a:latin typeface="Arial"/>
                <a:ea typeface="Arial"/>
                <a:cs typeface="Arial"/>
              </a:rPr>
              <a:t>Полированное серебро и пластичная форма — основной образ.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782CF-9544-4578-BBD1-A4CC3A31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7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7F8"/>
                </a:solidFill>
                <a:latin typeface="Arial"/>
                <a:ea typeface="Arial"/>
                <a:cs typeface="Arial"/>
              </a:rPr>
              <a:t>Монограмма NL или авторская лента с мягким отражением и реакцией на курсор.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AD565-35D3-4DBB-920F-74B2B9E1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7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7F8"/>
                </a:solidFill>
                <a:latin typeface="Arial"/>
                <a:ea typeface="Arial"/>
                <a:cs typeface="Arial"/>
              </a:rPr>
              <a:t>Glass — в акцентах; формы, цены и таблицы остаются контрастными.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08460-E0EB-44D0-9B81-D3FDC77D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7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7F8"/>
                </a:solidFill>
                <a:latin typeface="Arial"/>
                <a:ea typeface="Arial"/>
                <a:cs typeface="Arial"/>
              </a:rPr>
              <a:t>Имя и контакт доступны сразу, независимо от загрузки WebGL.</a:t>
            </a:r>
          </a:p>
        </p:txBody>
      </p:sp>
    </p:spTree>
    <p:extLst>
      <p:ext uri="{BB962C8B-B14F-4D97-AF65-F5344CB8AC3E}">
        <p14:creationId xmlns:p14="http://schemas.microsoft.com/office/powerpoint/2010/main" val="729796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5E15F-1132-4BB9-8C9A-E5F876C0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A1F"/>
                </a:solidFill>
                <a:latin typeface="Arial"/>
                <a:ea typeface="Arial"/>
                <a:cs typeface="Arial"/>
              </a:rPr>
              <a:t>Референс · L.I.S.A.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D8D80-0A5F-46C9-89B3-9B97C94D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27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65dbaf15cf4fc5"/>
          <a:stretch xmlns:a="http://schemas.openxmlformats.org/drawingml/2006/main"/>
        </p:blipFill>
        <p:spPr>
          <a:xfrm xmlns:a="http://schemas.openxmlformats.org/drawingml/2006/main">
            <a:off x="4002405" y="1571625"/>
            <a:ext cx="7635240" cy="47720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37E7C-6A41-4514-99F1-3E64E3F9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95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05D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05D6B"/>
                </a:solidFill>
                <a:latin typeface="Arial"/>
                <a:ea typeface="Arial"/>
                <a:cs typeface="Arial"/>
              </a:rPr>
              <a:t>Один узнаваемый объект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58FE8-ACA1-4521-B00D-D7BB21FF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295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Материал, свет и движение формируют характер.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DFAAF-81A0-4712-8C81-A893D272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95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Для нас: серебряная подпись вместо персонажа.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61D6F-AD0B-43E3-B00C-6DE33231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972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727D"/>
                </a:solidFill>
                <a:latin typeface="Arial"/>
                <a:ea typeface="Arial"/>
                <a:cs typeface="Arial"/>
              </a:rPr>
              <a:t>lisa.locomotive.ca/en</a:t>
            </a:r>
          </a:p>
        </p:txBody>
      </p:sp>
    </p:spTree>
    <p:extLst>
      <p:ext uri="{BB962C8B-B14F-4D97-AF65-F5344CB8AC3E}">
        <p14:creationId xmlns:p14="http://schemas.microsoft.com/office/powerpoint/2010/main" val="8359127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1A38B-2A5A-4858-9E13-D8B9EBF4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A1F"/>
                </a:solidFill>
                <a:latin typeface="Arial"/>
                <a:ea typeface="Arial"/>
                <a:cs typeface="Arial"/>
              </a:rPr>
              <a:t>Референс · bleibtgleich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1B4C3-3CFB-4F1A-8B76-9DC0D28C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27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546ebee5e241ba"/>
          <a:stretch xmlns:a="http://schemas.openxmlformats.org/drawingml/2006/main"/>
        </p:blipFill>
        <p:spPr>
          <a:xfrm xmlns:a="http://schemas.openxmlformats.org/drawingml/2006/main">
            <a:off x="4002405" y="1571625"/>
            <a:ext cx="7635240" cy="47720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C6B6F-18F5-4429-BC5C-9CF2B889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95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05D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05D6B"/>
                </a:solidFill>
                <a:latin typeface="Arial"/>
                <a:ea typeface="Arial"/>
                <a:cs typeface="Arial"/>
              </a:rPr>
              <a:t>Имя и типографика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EA655-B5C0-490D-8068-3622A157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295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Асимметрия и свободное пространство.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8BED65-1CAA-449A-B454-82E1E5FA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95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Для нас: ясная роль рядом с пластичной формой.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D86A5-69DE-48A8-A885-1CD2E132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972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727D"/>
                </a:solidFill>
                <a:latin typeface="Arial"/>
                <a:ea typeface="Arial"/>
                <a:cs typeface="Arial"/>
              </a:rPr>
              <a:t>bleibtgleich.dev/</a:t>
            </a:r>
          </a:p>
        </p:txBody>
      </p:sp>
    </p:spTree>
    <p:extLst>
      <p:ext uri="{BB962C8B-B14F-4D97-AF65-F5344CB8AC3E}">
        <p14:creationId xmlns:p14="http://schemas.microsoft.com/office/powerpoint/2010/main" val="6896791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C7FAD-E983-4F72-90AD-A80FFF02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A1F"/>
                </a:solidFill>
                <a:latin typeface="Arial"/>
                <a:ea typeface="Arial"/>
                <a:cs typeface="Arial"/>
              </a:rPr>
              <a:t>Глава 2 · Общая дизайн-система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56CB7-2CD8-4BAC-A2B6-0E91B020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27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200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5191125"/>
                <a:gridCol w="3590925"/>
              </a:tblGrid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6F7F8"/>
                          </a:solidFill>
                          <a:latin typeface="Arial"/>
                          <a:ea typeface="Arial"/>
                          <a:cs typeface="Arial"/>
                        </a:rPr>
                        <a:t>Слой</a:t>
                      </a:r>
                    </a:p>
                  </a:txBody>
                  <a:tcPr marL="91440" marR="91440" marT="45720" marB="45720">
                    <a:solidFill>
                      <a:srgbClr val="171A1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6F7F8"/>
                          </a:solidFill>
                          <a:latin typeface="Arial"/>
                          <a:ea typeface="Arial"/>
                          <a:cs typeface="Arial"/>
                        </a:rPr>
                        <a:t>Содержание</a:t>
                      </a:r>
                    </a:p>
                  </a:txBody>
                  <a:tcPr marL="91440" marR="91440" marT="45720" marB="45720">
                    <a:solidFill>
                      <a:srgbClr val="171A1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6F7F8"/>
                          </a:solidFill>
                          <a:latin typeface="Arial"/>
                          <a:ea typeface="Arial"/>
                          <a:cs typeface="Arial"/>
                        </a:rPr>
                        <a:t>Где используется</a:t>
                      </a:r>
                    </a:p>
                  </a:txBody>
                  <a:tcPr marL="91440" marR="91440" marT="45720" marB="45720">
                    <a:solidFill>
                      <a:srgbClr val="171A1F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Tokens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Цвет, типографика, spacing, motion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Все приложения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UI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Формы, кнопки, dialogs, feedback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Landing / id / pay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Data UI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Таблицы, суммы, статусы, timeline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Pay / admin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Brand scene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Серебро, качество, static fallback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Hero и акценты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i18n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EN/RU, даты, числа, ошибки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UI и уведомления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17044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55117-D087-4CAF-986F-75EFF601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A1F"/>
                </a:solidFill>
                <a:latin typeface="Arial"/>
                <a:ea typeface="Arial"/>
                <a:cs typeface="Arial"/>
              </a:rPr>
              <a:t>Глава 2 · Поведение интерфейсов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E0511-A65F-4F34-A8F0-0B834BA7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27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F8AA4-09D7-42ED-ABAD-4CAB2234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05D6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05D6B"/>
                </a:solidFill>
                <a:latin typeface="Arial"/>
                <a:ea typeface="Arial"/>
                <a:cs typeface="Arial"/>
              </a:rPr>
              <a:t>Одна система, разные плотность и задачи экранов.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0BD31-FFE0-46B9-9C9F-9F848C15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Landing выразителен; identity помогает пройти короткий и понятный вход.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E9E68A-CE77-45DB-9550-CFC3516D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Payments объясняет сумму, период и статус; admin показывает данные и действия.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6AE7A-465B-40C1-8F1A-A6918D6F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Общие состояния: loading, empty, error, forbidden, stale; все на EN/RU.</a:t>
            </a:r>
          </a:p>
        </p:txBody>
      </p:sp>
    </p:spTree>
    <p:extLst>
      <p:ext uri="{BB962C8B-B14F-4D97-AF65-F5344CB8AC3E}">
        <p14:creationId xmlns:p14="http://schemas.microsoft.com/office/powerpoint/2010/main" val="20926977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81C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8A83F7-7A8E-4021-8588-2904E718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6F7F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7F8"/>
                </a:solidFill>
                <a:latin typeface="Arial"/>
                <a:ea typeface="Arial"/>
                <a:cs typeface="Arial"/>
              </a:rPr>
              <a:t>Глава 1 · Плавность и чёткость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3C5C8-4A87-479C-AE3A-5C915A19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7ADB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ADB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0EE43-8987-4786-B751-1B8B4958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8D0D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8D0D9"/>
                </a:solidFill>
                <a:latin typeface="Arial"/>
                <a:ea typeface="Arial"/>
                <a:cs typeface="Arial"/>
              </a:rPr>
              <a:t>60 FPS — измеряемая цель на выбранных устройствах.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82D09-765D-4B3A-B229-1CA1C90E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7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7F8"/>
                </a:solidFill>
                <a:latin typeface="Arial"/>
                <a:ea typeface="Arial"/>
                <a:cs typeface="Arial"/>
              </a:rPr>
              <a:t>60 Гц: около 16,7 мс на кадр. 120 Гц — отдельная дополнительная цель.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A23D6-7AF7-40F8-B6A5-BCAEBE6B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7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7F8"/>
                </a:solidFill>
                <a:latin typeface="Arial"/>
                <a:ea typeface="Arial"/>
                <a:cs typeface="Arial"/>
              </a:rPr>
              <a:t>Адаптивные DPR и число пикселей; quality tiers без размытия DOM-текста.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16C83-14D4-4BB3-8806-C88B43E3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7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7F8"/>
                </a:solidFill>
                <a:latin typeface="Arial"/>
                <a:ea typeface="Arial"/>
                <a:cs typeface="Arial"/>
              </a:rPr>
              <a:t>Проверка после прогрева и под нагрузкой; reduced motion и static fallback.</a:t>
            </a:r>
          </a:p>
        </p:txBody>
      </p:sp>
    </p:spTree>
    <p:extLst>
      <p:ext uri="{BB962C8B-B14F-4D97-AF65-F5344CB8AC3E}">
        <p14:creationId xmlns:p14="http://schemas.microsoft.com/office/powerpoint/2010/main" val="14406693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2E9DA-C816-4359-920B-99A553C0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A1F"/>
                </a:solidFill>
                <a:latin typeface="Arial"/>
                <a:ea typeface="Arial"/>
                <a:cs typeface="Arial"/>
              </a:rPr>
              <a:t>Глава 1 · Английский по умолчанию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14CFB-BEEA-4EC5-9F40-F6D9E62E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27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AB865-E17D-45EE-B779-6842418B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05D6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05D6B"/>
                </a:solidFill>
                <a:latin typeface="Arial"/>
                <a:ea typeface="Arial"/>
                <a:cs typeface="Arial"/>
              </a:rPr>
              <a:t>Одна политика языка для всех фронтов и сообщений.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5E2B7-4EB7-46E7-9BF9-5201EA62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Предложение: / — EN, /ru — RU. Первый визит не зависит от языка браузера.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0BB7D-CC08-482A-B1DE-208E37D8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Профиль и явный выбор определяют язык сервисов; fallback — 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DC682A-2463-4AF6-8EC3-67A56136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Исправить текущие расхождения: navigator → RU и User.locale default ru.</a:t>
            </a:r>
          </a:p>
        </p:txBody>
      </p:sp>
    </p:spTree>
    <p:extLst>
      <p:ext uri="{BB962C8B-B14F-4D97-AF65-F5344CB8AC3E}">
        <p14:creationId xmlns:p14="http://schemas.microsoft.com/office/powerpoint/2010/main" val="16470061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E241A-D2B6-4AE7-B40B-7CB4C87B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A1F"/>
                </a:solidFill>
                <a:latin typeface="Arial"/>
                <a:ea typeface="Arial"/>
                <a:cs typeface="Arial"/>
              </a:rPr>
              <a:t>Глава 3 · Продуктовые сервисы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D1DBF-CE35-4970-9A83-4FD652C1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27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200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47875"/>
                <a:gridCol w="5238750"/>
                <a:gridCol w="3686175"/>
              </a:tblGrid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6F7F8"/>
                          </a:solidFill>
                          <a:latin typeface="Arial"/>
                          <a:ea typeface="Arial"/>
                          <a:cs typeface="Arial"/>
                        </a:rPr>
                        <a:t>Сервис</a:t>
                      </a:r>
                    </a:p>
                  </a:txBody>
                  <a:tcPr marL="91440" marR="91440" marT="45720" marB="45720">
                    <a:solidFill>
                      <a:srgbClr val="171A1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6F7F8"/>
                          </a:solidFill>
                          <a:latin typeface="Arial"/>
                          <a:ea typeface="Arial"/>
                          <a:cs typeface="Arial"/>
                        </a:rPr>
                        <a:t>Возможности</a:t>
                      </a:r>
                    </a:p>
                  </a:txBody>
                  <a:tcPr marL="91440" marR="91440" marT="45720" marB="45720">
                    <a:solidFill>
                      <a:srgbClr val="171A1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6F7F8"/>
                          </a:solidFill>
                          <a:latin typeface="Arial"/>
                          <a:ea typeface="Arial"/>
                          <a:cs typeface="Arial"/>
                        </a:rPr>
                        <a:t>Источник истины</a:t>
                      </a:r>
                    </a:p>
                  </a:txBody>
                  <a:tcPr marL="91440" marR="91440" marT="45720" marB="45720">
                    <a:solidFill>
                      <a:srgbClr val="171A1F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Identity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Вход, профиль, сессии, роли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Пользователь и RBAC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Notifications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Inbox, каналы, доставки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Сообщения и попытки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Payments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Покупки, подписки, сверка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Деньги и grants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Admin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Поддержка и безопасные команды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Проекции и audit view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Hermes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Личные темы, вещи и объявления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Сессии + assistant-store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21667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414E5-ED14-4984-A055-903AE976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A1F"/>
                </a:solidFill>
                <a:latin typeface="Arial"/>
                <a:ea typeface="Arial"/>
                <a:cs typeface="Arial"/>
              </a:rPr>
              <a:t>Глава 4 · Identity для пользователя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C06BA-D0D2-42E8-9D32-24A44BD7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27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7F08C-7A37-425A-81E6-A93C82F8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05D6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05D6B"/>
                </a:solidFill>
                <a:latin typeface="Arial"/>
                <a:ea typeface="Arial"/>
                <a:cs typeface="Arial"/>
              </a:rPr>
              <a:t>Один аккаунт для сервисов и будущих приложений.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856F7-C680-467C-AB90-37EF05D0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Email-код, Google, passkeys; Telegram как канал уведомлений.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D1E0F-C456-40E9-A322-199E63D8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Профиль, язык, способы входа, список устройств и отзыв сессий.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87370-8280-4755-AFD9-F51298D5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Мои доступы и их срок; безопасное восстановление и закрытие аккаунта.</a:t>
            </a:r>
          </a:p>
        </p:txBody>
      </p:sp>
    </p:spTree>
    <p:extLst>
      <p:ext uri="{BB962C8B-B14F-4D97-AF65-F5344CB8AC3E}">
        <p14:creationId xmlns:p14="http://schemas.microsoft.com/office/powerpoint/2010/main" val="20740542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A5444-3FF9-4C5F-8FA8-690FEA6C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A1F"/>
                </a:solidFill>
                <a:latin typeface="Arial"/>
                <a:ea typeface="Arial"/>
                <a:cs typeface="Arial"/>
              </a:rPr>
              <a:t>Глава 4 · Роли и коммерческие права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D7BF0-4633-4D97-A8AF-E4618424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27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1250"/>
                <a:gridCol w="5238750"/>
                <a:gridCol w="3352800"/>
              </a:tblGrid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6F7F8"/>
                          </a:solidFill>
                          <a:latin typeface="Arial"/>
                          <a:ea typeface="Arial"/>
                          <a:cs typeface="Arial"/>
                        </a:rPr>
                        <a:t>Понятие</a:t>
                      </a:r>
                    </a:p>
                  </a:txBody>
                  <a:tcPr marL="91440" marR="91440" marT="45720" marB="45720">
                    <a:solidFill>
                      <a:srgbClr val="171A1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6F7F8"/>
                          </a:solidFill>
                          <a:latin typeface="Arial"/>
                          <a:ea typeface="Arial"/>
                          <a:cs typeface="Arial"/>
                        </a:rPr>
                        <a:t>Что разрешает</a:t>
                      </a:r>
                    </a:p>
                  </a:txBody>
                  <a:tcPr marL="91440" marR="91440" marT="45720" marB="45720">
                    <a:solidFill>
                      <a:srgbClr val="171A1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6F7F8"/>
                          </a:solidFill>
                          <a:latin typeface="Arial"/>
                          <a:ea typeface="Arial"/>
                          <a:cs typeface="Arial"/>
                        </a:rPr>
                        <a:t>Кто управляет</a:t>
                      </a:r>
                    </a:p>
                  </a:txBody>
                  <a:tcPr marL="91440" marR="91440" marT="45720" marB="45720">
                    <a:solidFill>
                      <a:srgbClr val="171A1F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Platform role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Поддержка, финансы, аудит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Identity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Product grant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Платная функция и срок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Payments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Resource access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Свои заказы и данные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Сервис-владелец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Service identity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Ограниченные машинные вызовы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Платформа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575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44202-E2C4-4B6E-AF24-AC932711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A1F"/>
                </a:solidFill>
                <a:latin typeface="Arial"/>
                <a:ea typeface="Arial"/>
                <a:cs typeface="Arial"/>
              </a:rPr>
              <a:t>Глава 4 · SSO и управление сессиями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45DD7-5601-4BFD-85E0-2E3AE16C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27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77EB7-7BE3-432E-8217-8D6D4B74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05D6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05D6B"/>
                </a:solidFill>
                <a:latin typeface="Arial"/>
                <a:ea typeface="Arial"/>
                <a:cs typeface="Arial"/>
              </a:rPr>
              <a:t>Центральный id и собственная cookie каждого приложения.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9FDE2-2B71-4FC3-985D-178FBA5C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Одноразовый code, state, PKCE, точные redirect URI; обмен через BFF.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68D2FB-A02D-4B73-A7D9-1ABD0F06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Проверить конкурентный refresh, потерянный ответ, revoke и ротацию JWKS.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DDC610-4603-4215-8454-D5C25462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Новый passkey RP: id.outegro.dev; старые аккаунты не переносим.</a:t>
            </a:r>
          </a:p>
        </p:txBody>
      </p:sp>
    </p:spTree>
    <p:extLst>
      <p:ext uri="{BB962C8B-B14F-4D97-AF65-F5344CB8AC3E}">
        <p14:creationId xmlns:p14="http://schemas.microsoft.com/office/powerpoint/2010/main" val="14555984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2BBB1-3D75-4DA2-AA91-213A8413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A1F"/>
                </a:solidFill>
                <a:latin typeface="Arial"/>
                <a:ea typeface="Arial"/>
                <a:cs typeface="Arial"/>
              </a:rPr>
              <a:t>Глава 5 · Уведомления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11B1F-2E70-48B4-A8CD-C69962B7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27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3A94E1-1A13-46E7-A183-460AA04B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05D6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05D6B"/>
                </a:solidFill>
                <a:latin typeface="Arial"/>
                <a:ea typeface="Arial"/>
                <a:cs typeface="Arial"/>
              </a:rPr>
              <a:t>Пользователь видит сообщение, оператор — результат доставки.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08825-141D-4907-9DD1-FCC09C70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Email, Telegram, inbox и настройки тем/каналов на EN/RU.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0A4CD-FB5B-4228-898B-5098B835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Атомарный claim, ограниченные повторы, DLQ и безопасный replay.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04D38-1EFF-41BF-AA7B-F6D7D9AB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Оплата не откатывается из-за письма; sent не означает delivered/read.</a:t>
            </a:r>
          </a:p>
        </p:txBody>
      </p:sp>
    </p:spTree>
    <p:extLst>
      <p:ext uri="{BB962C8B-B14F-4D97-AF65-F5344CB8AC3E}">
        <p14:creationId xmlns:p14="http://schemas.microsoft.com/office/powerpoint/2010/main" val="139825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81C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51C75-896B-488A-908A-52EEE68D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6F7F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7F8"/>
                </a:solidFill>
                <a:latin typeface="Arial"/>
                <a:ea typeface="Arial"/>
                <a:cs typeface="Arial"/>
              </a:rPr>
              <a:t>Глава 6 · Payments для пользователя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3D305-61A4-447C-B119-720BA919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7ADB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ADB7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3F4DA-CAD0-4415-AFBA-D76E1A28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8D0D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8D0D9"/>
                </a:solidFill>
                <a:latin typeface="Arial"/>
                <a:ea typeface="Arial"/>
                <a:cs typeface="Arial"/>
              </a:rPr>
              <a:t>Покупки и подписки с понятным состоянием.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025D2-B501-47B8-B18A-AEFA83AD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7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7F8"/>
                </a:solidFill>
                <a:latin typeface="Arial"/>
                <a:ea typeface="Arial"/>
                <a:cs typeface="Arial"/>
              </a:rPr>
              <a:t>Checkout, собственная история, суммы/валюты, подтверждённые доступы.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12ECB5-F005-4D58-B832-44322A64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7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7F8"/>
                </a:solidFill>
                <a:latin typeface="Arial"/>
                <a:ea typeface="Arial"/>
                <a:cs typeface="Arial"/>
              </a:rPr>
              <a:t>Мои подписки, оплачено до, отмена продления и результат возврата.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DD68B-58B3-468A-AB3C-95EDC1C8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7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7F8"/>
                </a:solidFill>
                <a:latin typeface="Arial"/>
                <a:ea typeface="Arial"/>
                <a:cs typeface="Arial"/>
              </a:rPr>
              <a:t>До реального продукта каталог закрыт; pricing не выдумывается.</a:t>
            </a:r>
          </a:p>
        </p:txBody>
      </p:sp>
    </p:spTree>
    <p:extLst>
      <p:ext uri="{BB962C8B-B14F-4D97-AF65-F5344CB8AC3E}">
        <p14:creationId xmlns:p14="http://schemas.microsoft.com/office/powerpoint/2010/main" val="13344680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69399F-183D-437A-858D-3093BD56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A1F"/>
                </a:solidFill>
                <a:latin typeface="Arial"/>
                <a:ea typeface="Arial"/>
                <a:cs typeface="Arial"/>
              </a:rPr>
              <a:t>Глава 6 · Жизненный цикл подписки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AB3FA-4C46-4957-A789-26F91C84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27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05F171-C2CF-43E4-8D3D-FB201ADA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05D6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05D6B"/>
                </a:solidFill>
                <a:latin typeface="Arial"/>
                <a:ea typeface="Arial"/>
                <a:cs typeface="Arial"/>
              </a:rPr>
              <a:t>Подписка, списание, оплаченный период и grant разделены.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8C4C3-3CAA-4AC3-A228-3DFA0296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Первый платёж активирует право; каждый renewal имеет уникальный источник.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CAC6C9-F82B-42BD-9D09-ECB7D301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Отмена выключает продление; уже оплаченный срок сохраняется по политике.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8059D-508E-46DD-A166-7D8CFA35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Повтор webhook не добавляет дни; expiry учитывается при проверке доступа.</a:t>
            </a:r>
          </a:p>
        </p:txBody>
      </p:sp>
    </p:spTree>
    <p:extLst>
      <p:ext uri="{BB962C8B-B14F-4D97-AF65-F5344CB8AC3E}">
        <p14:creationId xmlns:p14="http://schemas.microsoft.com/office/powerpoint/2010/main" val="117945613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00A23-D0B1-4A2A-BB88-8F2B9FC7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A1F"/>
                </a:solidFill>
                <a:latin typeface="Arial"/>
                <a:ea typeface="Arial"/>
                <a:cs typeface="Arial"/>
              </a:rPr>
              <a:t>Глава 6 · Контракт Lava.top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1E843-852E-4569-BCB7-50561564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27D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C470AF-E75D-4BA9-92C8-017BE4DF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05D6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05D6B"/>
                </a:solidFill>
                <a:latin typeface="Arial"/>
                <a:ea typeface="Arial"/>
                <a:cs typeface="Arial"/>
              </a:rPr>
              <a:t>Документация проверена; адаптер учитывает разные события.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FCB5B-BBF7-4B1F-95E6-4B39AC9C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Invoice API и управление подписками; webhook — Basic либо X-Api-Key.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9B6EA-2920-4CBC-BB5B-7665DC8D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Payment/subscription и refund/chargeback используют разные форматы payload.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357B4-A785-46D4-85C4-9F88906F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Неоднозначный возврат идёт в сверку; return URL не выдаёт доступ.</a:t>
            </a:r>
          </a:p>
        </p:txBody>
      </p:sp>
    </p:spTree>
    <p:extLst>
      <p:ext uri="{BB962C8B-B14F-4D97-AF65-F5344CB8AC3E}">
        <p14:creationId xmlns:p14="http://schemas.microsoft.com/office/powerpoint/2010/main" val="99354699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A14BE-F9A3-4F02-8242-D41AE16B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A1F"/>
                </a:solidFill>
                <a:latin typeface="Arial"/>
                <a:ea typeface="Arial"/>
                <a:cs typeface="Arial"/>
              </a:rPr>
              <a:t>Глава 6 · Финансовая сверка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EDFE0-F8EA-4344-9724-8D2414D2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27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398FB-FEBF-40B7-BCFD-36ACD837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05D6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05D6B"/>
                </a:solidFill>
                <a:latin typeface="Arial"/>
                <a:ea typeface="Arial"/>
                <a:cs typeface="Arial"/>
              </a:rPr>
              <a:t>Заказ → платёж → grant → уведомление должны совпадать.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810FD-B9AF-4CD8-BA3D-34E93176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Durable provider inbox, idempotency, journal и transactional outbox.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DD1E1-3701-4F5B-B285-6AB2A98D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Timeout создания invoice получает unknown; нельзя слепо повторять команду.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F708B-7936-471C-945A-9DD2489B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Wallet пока отдельный вариант; история оплат не равна тратимому балансу.</a:t>
            </a:r>
          </a:p>
        </p:txBody>
      </p:sp>
    </p:spTree>
    <p:extLst>
      <p:ext uri="{BB962C8B-B14F-4D97-AF65-F5344CB8AC3E}">
        <p14:creationId xmlns:p14="http://schemas.microsoft.com/office/powerpoint/2010/main" val="61938449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916E1-5FBD-4DEB-99AB-F775EBB6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A1F"/>
                </a:solidFill>
                <a:latin typeface="Arial"/>
                <a:ea typeface="Arial"/>
                <a:cs typeface="Arial"/>
              </a:rPr>
              <a:t>Глава 7 · Административная панель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AA06F-FD47-4B4D-BA01-74A74B69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27D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200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47875"/>
                <a:gridCol w="5048250"/>
                <a:gridCol w="3876675"/>
              </a:tblGrid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6F7F8"/>
                          </a:solidFill>
                          <a:latin typeface="Arial"/>
                          <a:ea typeface="Arial"/>
                          <a:cs typeface="Arial"/>
                        </a:rPr>
                        <a:t>Раздел</a:t>
                      </a:r>
                    </a:p>
                  </a:txBody>
                  <a:tcPr marL="91440" marR="91440" marT="45720" marB="45720">
                    <a:solidFill>
                      <a:srgbClr val="171A1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6F7F8"/>
                          </a:solidFill>
                          <a:latin typeface="Arial"/>
                          <a:ea typeface="Arial"/>
                          <a:cs typeface="Arial"/>
                        </a:rPr>
                        <a:t>Что показывает</a:t>
                      </a:r>
                    </a:p>
                  </a:txBody>
                  <a:tcPr marL="91440" marR="91440" marT="45720" marB="45720">
                    <a:solidFill>
                      <a:srgbClr val="171A1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6F7F8"/>
                          </a:solidFill>
                          <a:latin typeface="Arial"/>
                          <a:ea typeface="Arial"/>
                          <a:cs typeface="Arial"/>
                        </a:rPr>
                        <a:t>Что позволяет</a:t>
                      </a:r>
                    </a:p>
                  </a:txBody>
                  <a:tcPr marL="91440" marR="91440" marT="45720" marB="45720">
                    <a:solidFill>
                      <a:srgbClr val="171A1F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Users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Профиль, сессии, роли, доступы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Разрешённые user commands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Billing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Заказы, подписки, журнал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Отмена и разбор операций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Events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Цепочка и расхождения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Контролируемый replay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Notifications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Попытки и причины ошибок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Допустимый retry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Services / audit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Состояния, flags, действия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Управление с записью причины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255296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42C50-B23E-40DA-B525-627AB7DB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A1F"/>
                </a:solidFill>
                <a:latin typeface="Arial"/>
                <a:ea typeface="Arial"/>
                <a:cs typeface="Arial"/>
              </a:rPr>
              <a:t>Глава 7 · Права оператора и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714AB-5768-40B1-B250-8AADE2A9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27D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E56B6-AB6E-426F-90E4-581F52A0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05D6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05D6B"/>
                </a:solidFill>
                <a:latin typeface="Arial"/>
                <a:ea typeface="Arial"/>
                <a:cs typeface="Arial"/>
              </a:rPr>
              <a:t>Каждая значимая команда имеет автора и объяснение.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CA7DA0-E8BF-4FE8-84E5-6AFF521E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Owner, support, billing, auditor, service operator — разные permissions.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64562-10EA-4498-AB40-FDBA492F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Backend проверяет права; финансовые действия требуют свежего входа.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9C5CF-C5E1-434D-AD16-8EAFA3BB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Reason, commandId, redacted before/after и результат сохраняются вместе с изменением.</a:t>
            </a:r>
          </a:p>
        </p:txBody>
      </p:sp>
    </p:spTree>
    <p:extLst>
      <p:ext uri="{BB962C8B-B14F-4D97-AF65-F5344CB8AC3E}">
        <p14:creationId xmlns:p14="http://schemas.microsoft.com/office/powerpoint/2010/main" val="185576349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EFB8F4-F07B-46BA-AD7A-4B4B93C0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A1F"/>
                </a:solidFill>
                <a:latin typeface="Arial"/>
                <a:ea typeface="Arial"/>
                <a:cs typeface="Arial"/>
              </a:rPr>
              <a:t>Глава 8 · Новая persistence и события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37A98-D2D4-4F65-B75A-EF5DFD74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27D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8CD88-60C9-462C-BFDE-63D5AEA4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05D6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05D6B"/>
                </a:solidFill>
                <a:latin typeface="Arial"/>
                <a:ea typeface="Arial"/>
                <a:cs typeface="Arial"/>
              </a:rPr>
              <a:t>Чистые базы на Drizzle; перенос старых данных отменён.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EEB63-6A47-4FEA-93FD-D374292D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SQL migrations, constraints, seeds, отдельные DB roles и migration Job.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4A580-5F4B-4D72-856B-FE1FBE79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Outbox + publisher confirms; inbox и idempotent consumers.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4A11D-0F77-4111-BB01-7F3E2FF1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Один RabbitMQ; at-least-once с проверяемыми бизнес-инвариантами.</a:t>
            </a:r>
          </a:p>
        </p:txBody>
      </p:sp>
    </p:spTree>
    <p:extLst>
      <p:ext uri="{BB962C8B-B14F-4D97-AF65-F5344CB8AC3E}">
        <p14:creationId xmlns:p14="http://schemas.microsoft.com/office/powerpoint/2010/main" val="121742462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99B62C-2875-46DA-9D25-F6B9A630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A1F"/>
                </a:solidFill>
                <a:latin typeface="Arial"/>
                <a:ea typeface="Arial"/>
                <a:cs typeface="Arial"/>
              </a:rPr>
              <a:t>Глава 10 · Ресурсы одного VPS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CCD5A-6FE8-47D0-81E5-56F60B4C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27D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733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476750"/>
                <a:gridCol w="1809750"/>
                <a:gridCol w="4686300"/>
              </a:tblGrid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6F7F8"/>
                          </a:solidFill>
                          <a:latin typeface="Arial"/>
                          <a:ea typeface="Arial"/>
                          <a:cs typeface="Arial"/>
                        </a:rPr>
                        <a:t>Группа</a:t>
                      </a:r>
                    </a:p>
                  </a:txBody>
                  <a:tcPr marL="91440" marR="91440" marT="45720" marB="45720">
                    <a:solidFill>
                      <a:srgbClr val="171A1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6F7F8"/>
                          </a:solidFill>
                          <a:latin typeface="Arial"/>
                          <a:ea typeface="Arial"/>
                          <a:cs typeface="Arial"/>
                        </a:rPr>
                        <a:t>MiB</a:t>
                      </a:r>
                    </a:p>
                  </a:txBody>
                  <a:tcPr marL="91440" marR="91440" marT="45720" marB="45720">
                    <a:solidFill>
                      <a:srgbClr val="171A1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6F7F8"/>
                          </a:solidFill>
                          <a:latin typeface="Arial"/>
                          <a:ea typeface="Arial"/>
                          <a:cs typeface="Arial"/>
                        </a:rPr>
                        <a:t>Условие</a:t>
                      </a:r>
                    </a:p>
                  </a:txBody>
                  <a:tcPr marL="91440" marR="91440" marT="45720" marB="45720">
                    <a:solidFill>
                      <a:srgbClr val="171A1F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ОС / K3s / controllers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1874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Включая GitOps и ingress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Observability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1000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Метрики, логи и alerts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PG / Redis / RabbitMQ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1706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По одному экземпляру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Core приложения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1400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Минимальные replicas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Hermes + assistant-store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768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Одна активная задача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Итого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6748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Ориентир, не benchmark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3F7A2-B6ED-4388-B240-3CCAE7B1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972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9727D"/>
                </a:solidFill>
                <a:latin typeface="Arial"/>
                <a:ea typeface="Arial"/>
                <a:cs typeface="Arial"/>
              </a:rPr>
              <a:t>4 vCPU / 8 ГБ / 200 ГБ SSD. Рост только вертикальный.</a:t>
            </a:r>
          </a:p>
        </p:txBody>
      </p:sp>
    </p:spTree>
    <p:extLst>
      <p:ext uri="{BB962C8B-B14F-4D97-AF65-F5344CB8AC3E}">
        <p14:creationId xmlns:p14="http://schemas.microsoft.com/office/powerpoint/2010/main" val="59648052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0392D-7007-4DF0-BFA4-34604A62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A1F"/>
                </a:solidFill>
                <a:latin typeface="Arial"/>
                <a:ea typeface="Arial"/>
                <a:cs typeface="Arial"/>
              </a:rPr>
              <a:t>Глава 9 · Observability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9626B-A2B1-4C21-97E5-67C6211E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27D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5DDFC-ACBF-401D-B404-E41274DC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05D6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05D6B"/>
                </a:solidFill>
                <a:latin typeface="Arial"/>
                <a:ea typeface="Arial"/>
                <a:cs typeface="Arial"/>
              </a:rPr>
              <a:t>Метрики, логи и alerts входят в первый production.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92649-7A81-4045-9C3B-3A5A218F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Prometheus, Grafana, Alertmanager; Loki/Alloy с ограниченной retention.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3F13B-517C-45C7-81C1-529689B8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Request/event correlation, provider-inbox age, grant lag, DLQ и backup freshness.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5F674-2BBB-4825-9CD9-52324FBB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Внешний uptime-check обнаруживает потерю единственного VPS.</a:t>
            </a:r>
          </a:p>
        </p:txBody>
      </p:sp>
    </p:spTree>
    <p:extLst>
      <p:ext uri="{BB962C8B-B14F-4D97-AF65-F5344CB8AC3E}">
        <p14:creationId xmlns:p14="http://schemas.microsoft.com/office/powerpoint/2010/main" val="84019832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81C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0CD10-04D4-44A3-ADBD-D06F694F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6F7F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7F8"/>
                </a:solidFill>
                <a:latin typeface="Arial"/>
                <a:ea typeface="Arial"/>
                <a:cs typeface="Arial"/>
              </a:rPr>
              <a:t>Глава 10 · Восстановление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431B6-B3CE-4925-8E9D-BA2D8441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7ADB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ADB7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6F98A-71EF-410C-A934-7B0D5962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8D0D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8D0D9"/>
                </a:solidFill>
                <a:latin typeface="Arial"/>
                <a:ea typeface="Arial"/>
                <a:cs typeface="Arial"/>
              </a:rPr>
              <a:t>Один узел требует проверенного backup и runbook.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E9C6A-1A66-434E-86B0-5C38CEA9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7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7F8"/>
                </a:solidFill>
                <a:latin typeface="Arial"/>
                <a:ea typeface="Arial"/>
                <a:cs typeface="Arial"/>
              </a:rPr>
              <a:t>PostgreSQL base backup + WAL вне VPS; recovery keys сохраняются отдельно.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FFB1E-AA02-41D8-9165-4DBF8AB5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7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7F8"/>
                </a:solidFill>
                <a:latin typeface="Arial"/>
                <a:ea typeface="Arial"/>
                <a:cs typeface="Arial"/>
              </a:rPr>
              <a:t>Цели: RPO 15 минут, RTO 4 часа после доступности заменяющего сервера.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D5C90-69B4-4626-8395-E4539147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7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7F8"/>
                </a:solidFill>
                <a:latin typeface="Arial"/>
                <a:ea typeface="Arial"/>
                <a:cs typeface="Arial"/>
              </a:rPr>
              <a:t>После restore — сверка внешних платежей и проверка прав/уведомлений.</a:t>
            </a:r>
          </a:p>
        </p:txBody>
      </p:sp>
    </p:spTree>
    <p:extLst>
      <p:ext uri="{BB962C8B-B14F-4D97-AF65-F5344CB8AC3E}">
        <p14:creationId xmlns:p14="http://schemas.microsoft.com/office/powerpoint/2010/main" val="26385490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9504D4-11C9-4B28-A701-76FC840F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A1F"/>
                </a:solidFill>
                <a:latin typeface="Arial"/>
                <a:ea typeface="Arial"/>
                <a:cs typeface="Arial"/>
              </a:rPr>
              <a:t>Глава 11 · Личный Hermes в Telegram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A08B9-B01D-48FC-9041-9308F7B6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27D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71678-7914-484F-8EFE-A94AB96C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05D6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05D6B"/>
                </a:solidFill>
                <a:latin typeface="Arial"/>
                <a:ea typeface="Arial"/>
                <a:cs typeface="Arial"/>
              </a:rPr>
              <a:t>Одна приватная группа, отдельный контекст каждой темы.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7AF40-B31E-4FAE-92FE-69074021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ChatGPT Plus подтверждён владельцем. Агент работает в этом же K3s.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A9447E-3303-4610-9AA4-9F7631C3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Routing по chatId + threadId; название темы и правила могут меняться.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871A1-CEF7-44F0-8C82-9B89C94A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Только owner; отдельные tools/scopes; /new не удаляет правила и данные.</a:t>
            </a:r>
          </a:p>
        </p:txBody>
      </p:sp>
    </p:spTree>
    <p:extLst>
      <p:ext uri="{BB962C8B-B14F-4D97-AF65-F5344CB8AC3E}">
        <p14:creationId xmlns:p14="http://schemas.microsoft.com/office/powerpoint/2010/main" val="93913550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844364-31ED-4248-AC21-52566F82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A1F"/>
                </a:solidFill>
                <a:latin typeface="Arial"/>
                <a:ea typeface="Arial"/>
                <a:cs typeface="Arial"/>
              </a:rPr>
              <a:t>Глава 11 · Каталог вещей по фото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2B64C-1AF4-4358-927D-9C9FC44F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27D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9F531-B6A8-4C43-9B2B-74097C4F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05D6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05D6B"/>
                </a:solidFill>
                <a:latin typeface="Arial"/>
                <a:ea typeface="Arial"/>
                <a:cs typeface="Arial"/>
              </a:rPr>
              <a:t>Фото → карточка вещи → черновик объявления.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2A941-8D48-4ADE-8310-DE841F0E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Цена покупки и продажи, состояние, характеристики, описание и private media.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801E3-CEDE-4973-A986-DD16DB29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Assistant-store хранит структуру; память модели не заменяет базу данных.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3E58F-E966-45A7-B6BF-D4A9A121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Публикация выбранной версии в разрешённую группу; без слепых повторов.</a:t>
            </a:r>
          </a:p>
        </p:txBody>
      </p:sp>
    </p:spTree>
    <p:extLst>
      <p:ext uri="{BB962C8B-B14F-4D97-AF65-F5344CB8AC3E}">
        <p14:creationId xmlns:p14="http://schemas.microsoft.com/office/powerpoint/2010/main" val="103005389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81C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2246B-33E6-43E4-BDD6-2F56BBD5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6F7F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7F8"/>
                </a:solidFill>
                <a:latin typeface="Arial"/>
                <a:ea typeface="Arial"/>
                <a:cs typeface="Arial"/>
              </a:rPr>
              <a:t>Глава 11 · Использование подписки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B22AF-A858-4DA5-8B06-038368F1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7ADB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ADB7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A22FE-7176-42E1-B1DD-D4127363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8D0D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8D0D9"/>
                </a:solidFill>
                <a:latin typeface="Arial"/>
                <a:ea typeface="Arial"/>
                <a:cs typeface="Arial"/>
              </a:rPr>
              <a:t>OpenAI Codex OAuth; платный API-fallback отключён.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25F54-6680-4CA6-A4B4-4C019DF5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7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7F8"/>
                </a:solidFill>
                <a:latin typeface="Arial"/>
                <a:ea typeface="Arial"/>
                <a:cs typeface="Arial"/>
              </a:rPr>
              <a:t>Проверяются основной provider, auxiliary вызовы и выбранная vision-модель.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C9586-2D51-4A10-85D3-20A7DA4D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7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7F8"/>
                </a:solidFill>
                <a:latin typeface="Arial"/>
                <a:ea typeface="Arial"/>
                <a:cs typeface="Arial"/>
              </a:rPr>
              <a:t>Quota exhausted → пауза; фото/задача сохраняются до возобновления.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7BFD0-97CA-49FB-854B-0B385205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7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7F8"/>
                </a:solidFill>
                <a:latin typeface="Arial"/>
                <a:ea typeface="Arial"/>
                <a:cs typeface="Arial"/>
              </a:rPr>
              <a:t>Credits сверх подписки проверяются отдельно: OAuth сам по себе не запрещает их расход.</a:t>
            </a:r>
          </a:p>
        </p:txBody>
      </p:sp>
    </p:spTree>
    <p:extLst>
      <p:ext uri="{BB962C8B-B14F-4D97-AF65-F5344CB8AC3E}">
        <p14:creationId xmlns:p14="http://schemas.microsoft.com/office/powerpoint/2010/main" val="116791874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CB084-44C4-41C9-938A-AE107C5E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A1F"/>
                </a:solidFill>
                <a:latin typeface="Arial"/>
                <a:ea typeface="Arial"/>
                <a:cs typeface="Arial"/>
              </a:rPr>
              <a:t>Глава 11 · Изоляция и сохранность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65099-C8C3-4F34-86AE-16941B68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27D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68372-BFF9-48B2-8DC0-5A296D0B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05D6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05D6B"/>
                </a:solidFill>
                <a:latin typeface="Arial"/>
                <a:ea typeface="Arial"/>
                <a:cs typeface="Arial"/>
              </a:rPr>
              <a:t>Hermes обслуживает личные задачи, не управляет production.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536B6-C0B5-4119-9013-3F828021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Одна replica, PVC, pinned image; без host socket и kubeconfig.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C1CBB-1079-4ECF-9AC7-D7449850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Нет доступа к payment/auth secrets; собственный API каталога и private media.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01E34-89FC-4EBE-B0C7-1D7037E5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Backup, durable ingest, owner allowlist и ограничение CPU/RAM проверяются.</a:t>
            </a:r>
          </a:p>
        </p:txBody>
      </p:sp>
    </p:spTree>
    <p:extLst>
      <p:ext uri="{BB962C8B-B14F-4D97-AF65-F5344CB8AC3E}">
        <p14:creationId xmlns:p14="http://schemas.microsoft.com/office/powerpoint/2010/main" val="71659536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9CD866-A8D9-4D41-B94E-D4CC04A9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A1F"/>
                </a:solidFill>
                <a:latin typeface="Arial"/>
                <a:ea typeface="Arial"/>
                <a:cs typeface="Arial"/>
              </a:rPr>
              <a:t>Глава 12 · Первый совместный релиз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E8BF5-0D43-46CC-BB69-48C24253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27D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30592-A9B7-434B-A1EA-EE9BD9CC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05D6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05D6B"/>
                </a:solidFill>
                <a:latin typeface="Arial"/>
                <a:ea typeface="Arial"/>
                <a:cs typeface="Arial"/>
              </a:rPr>
              <a:t>Выпуск проходит четыре проверяемых gate.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7B349-7EAB-4D4B-9654-04ABCEBB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A: landing/DS/EN-RU готовы. B: сервисы, admin и Hermes работают.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E6DD3-8908-4312-AFED-6B946A7A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C: K3s, ресурсы, backup/restore и alerts проверены.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48AD2-6ACB-41F5-AD37-0EA357A2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D: immutable deploy, migrations, smoke, owner access и post-release наблюдение.</a:t>
            </a:r>
          </a:p>
        </p:txBody>
      </p:sp>
    </p:spTree>
    <p:extLst>
      <p:ext uri="{BB962C8B-B14F-4D97-AF65-F5344CB8AC3E}">
        <p14:creationId xmlns:p14="http://schemas.microsoft.com/office/powerpoint/2010/main" val="125580065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7A1FD-AC31-448C-BDD9-F634B603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A1F"/>
                </a:solidFill>
                <a:latin typeface="Arial"/>
                <a:ea typeface="Arial"/>
                <a:cs typeface="Arial"/>
              </a:rPr>
              <a:t>Глава 14 · Трудоёмкость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2AA8A-C8AF-4A9C-9BED-146E3635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27D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733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286250"/>
                <a:gridCol w="2190750"/>
                <a:gridCol w="4495800"/>
              </a:tblGrid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6F7F8"/>
                          </a:solidFill>
                          <a:latin typeface="Arial"/>
                          <a:ea typeface="Arial"/>
                          <a:cs typeface="Arial"/>
                        </a:rPr>
                        <a:t>Пакет</a:t>
                      </a:r>
                    </a:p>
                  </a:txBody>
                  <a:tcPr marL="91440" marR="91440" marT="45720" marB="45720">
                    <a:solidFill>
                      <a:srgbClr val="171A1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6F7F8"/>
                          </a:solidFill>
                          <a:latin typeface="Arial"/>
                          <a:ea typeface="Arial"/>
                          <a:cs typeface="Arial"/>
                        </a:rPr>
                        <a:t>Рабочие дни</a:t>
                      </a:r>
                    </a:p>
                  </a:txBody>
                  <a:tcPr marL="91440" marR="91440" marT="45720" marB="45720">
                    <a:solidFill>
                      <a:srgbClr val="171A1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6F7F8"/>
                          </a:solidFill>
                          <a:latin typeface="Arial"/>
                          <a:ea typeface="Arial"/>
                          <a:cs typeface="Arial"/>
                        </a:rPr>
                        <a:t>Комментарий</a:t>
                      </a:r>
                    </a:p>
                  </a:txBody>
                  <a:tcPr marL="91440" marR="91440" marT="45720" marB="45720">
                    <a:solidFill>
                      <a:srgbClr val="171A1F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Landing / DS / 3D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12–20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Первый этап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Backend / identity / notifications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17–28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Контракты, Drizzle, SSO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Payments / admin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16–27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Подписки и сверка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K3s / Hermes / integration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17–28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Включая каталог вещей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Итого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62–103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Один опытный разработчик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С резервом около 20%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75–124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1A1F"/>
                          </a:solidFill>
                          <a:latin typeface="Arial"/>
                          <a:ea typeface="Arial"/>
                          <a:cs typeface="Arial"/>
                        </a:rPr>
                        <a:t>Без разработки игры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4263D-A8C7-4BB0-ADC9-ACAD393B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972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9727D"/>
                </a:solidFill>
                <a:latin typeface="Arial"/>
                <a:ea typeface="Arial"/>
                <a:cs typeface="Arial"/>
              </a:rPr>
              <a:t>Оценка scope, не календарное обязательство. 82 атомарные задачи в плане.</a:t>
            </a:r>
          </a:p>
        </p:txBody>
      </p:sp>
    </p:spTree>
    <p:extLst>
      <p:ext uri="{BB962C8B-B14F-4D97-AF65-F5344CB8AC3E}">
        <p14:creationId xmlns:p14="http://schemas.microsoft.com/office/powerpoint/2010/main" val="179907534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F3A26-7FE4-4827-B07C-25BABA13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A1F"/>
                </a:solidFill>
                <a:latin typeface="Arial"/>
                <a:ea typeface="Arial"/>
                <a:cs typeface="Arial"/>
              </a:rPr>
              <a:t>Глава 13 · Морской бой позже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954CB-59D5-438F-945F-BF4D4969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27D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237069-ECBE-4444-9299-2C3CA51C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05D6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05D6B"/>
                </a:solidFill>
                <a:latin typeface="Arial"/>
                <a:ea typeface="Arial"/>
                <a:cs typeface="Arial"/>
              </a:rPr>
              <a:t>Пока зафиксированы только направления продукта.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3A88F-762D-424A-8BD3-E9631974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Онлайн, игра с ботами, оплата и рейтинг.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C9D7D-6F03-4AF6-9F2C-826CE917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Общие identity, notifications, payments, DS и observability уже готовы.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E8F73-F3C2-4085-B084-307F3B8A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Правила, монетизация, гостевой режим и сроки — в отдельном ТЗ после production.</a:t>
            </a:r>
          </a:p>
        </p:txBody>
      </p:sp>
    </p:spTree>
    <p:extLst>
      <p:ext uri="{BB962C8B-B14F-4D97-AF65-F5344CB8AC3E}">
        <p14:creationId xmlns:p14="http://schemas.microsoft.com/office/powerpoint/2010/main" val="146489086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512BE-03EE-43F4-A50D-7FC72480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A1F"/>
                </a:solidFill>
                <a:latin typeface="Arial"/>
                <a:ea typeface="Arial"/>
                <a:cs typeface="Arial"/>
              </a:rPr>
              <a:t>Глава 15 · Оставшиеся решения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3E477-78AE-4F5D-A0DA-7C984347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2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27D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9CDE2-429D-4838-8067-F2577C4B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05D6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05D6B"/>
                </a:solidFill>
                <a:latin typeface="Arial"/>
                <a:ea typeface="Arial"/>
                <a:cs typeface="Arial"/>
              </a:rPr>
              <a:t>Основной brief уже определён; открыты отдельные параметры.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E8EA1-8E24-4F1D-ACE5-B4DB6E78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Внутренний кошелёк сейчас или позже; нужны ли тарифы к первому запуску.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1022B-366E-42C1-9810-D78C11CE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Компьютер и телефон для 60-FPS приёмки; публичные контакты.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2ABDE-F317-4B0D-8E12-0CCB5C47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A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1F"/>
                </a:solidFill>
                <a:latin typeface="Arial"/>
                <a:ea typeface="Arial"/>
                <a:cs typeface="Arial"/>
              </a:rPr>
              <a:t>При реализации: merchant/test access, bot/group/topic IDs и destination барахолки.</a:t>
            </a:r>
          </a:p>
        </p:txBody>
      </p:sp>
    </p:spTree>
    <p:extLst>
      <p:ext uri="{BB962C8B-B14F-4D97-AF65-F5344CB8AC3E}">
        <p14:creationId xmlns:p14="http://schemas.microsoft.com/office/powerpoint/2010/main" val="84151094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181C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AA5E4-66F7-4934-A0F8-1A39E0FF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6F7F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7F8"/>
                </a:solidFill>
                <a:latin typeface="Arial"/>
                <a:ea typeface="Arial"/>
                <a:cs typeface="Arial"/>
              </a:rPr>
              <a:t>Результат первого этапа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81E84-7392-4D39-867A-D8AC4A5A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7ADB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ADB7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C4BA53-559F-4A70-9556-BD576AF1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8D0D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8D0D9"/>
                </a:solidFill>
                <a:latin typeface="Arial"/>
                <a:ea typeface="Arial"/>
                <a:cs typeface="Arial"/>
              </a:rPr>
              <a:t>Личный сайт и работающая платформа на одном VPS.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E91C6-0DE6-4359-B05B-58DB1F06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7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7F8"/>
                </a:solidFill>
                <a:latin typeface="Arial"/>
                <a:ea typeface="Arial"/>
                <a:cs typeface="Arial"/>
              </a:rPr>
              <a:t>Nick Lukashik: серебряная подпись, EN/RU и понятная экспертность.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538BA-A175-423E-A1A4-B0DE3C17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7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7F8"/>
                </a:solidFill>
                <a:latin typeface="Arial"/>
                <a:ea typeface="Arial"/>
                <a:cs typeface="Arial"/>
              </a:rPr>
              <a:t>Общие сервисы, подписки, роли, операционная админка и проверенное восстановление.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2A118-CA41-4CE9-8471-17BD9521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7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7F8"/>
                </a:solidFill>
                <a:latin typeface="Arial"/>
                <a:ea typeface="Arial"/>
                <a:cs typeface="Arial"/>
              </a:rPr>
              <a:t>Личный Hermes с темами и каталогом вещей; затем развитие приложений.</a:t>
            </a:r>
          </a:p>
        </p:txBody>
      </p:sp>
    </p:spTree>
    <p:extLst>
      <p:ext uri="{BB962C8B-B14F-4D97-AF65-F5344CB8AC3E}">
        <p14:creationId xmlns:p14="http://schemas.microsoft.com/office/powerpoint/2010/main" val="604211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2026-09-27T14:01:50.8000000Z</dcterms:created>
  <dcterms:modified xsi:type="dcterms:W3CDTF">2026-09-27T14:01:50.8000000Z</dcterms:modified>
</coreProperties>
</file>